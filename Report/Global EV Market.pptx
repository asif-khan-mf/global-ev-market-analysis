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019CD-303E-5F4A-9640-C147081B13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15CF8-D7C6-974A-B837-D3E435206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14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 /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jp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 /><Relationship Id="rId13" Type="http://schemas.openxmlformats.org/officeDocument/2006/relationships/image" Target="../media/image16.png" /><Relationship Id="rId3" Type="http://schemas.openxmlformats.org/officeDocument/2006/relationships/image" Target="../media/image1.png" /><Relationship Id="rId7" Type="http://schemas.openxmlformats.org/officeDocument/2006/relationships/image" Target="../media/image10.png" /><Relationship Id="rId12" Type="http://schemas.openxmlformats.org/officeDocument/2006/relationships/image" Target="../media/image15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9.png" /><Relationship Id="rId11" Type="http://schemas.openxmlformats.org/officeDocument/2006/relationships/image" Target="../media/image14.png" /><Relationship Id="rId5" Type="http://schemas.openxmlformats.org/officeDocument/2006/relationships/image" Target="../media/image8.png" /><Relationship Id="rId15" Type="http://schemas.openxmlformats.org/officeDocument/2006/relationships/image" Target="../media/image18.png" /><Relationship Id="rId10" Type="http://schemas.openxmlformats.org/officeDocument/2006/relationships/image" Target="../media/image13.png" /><Relationship Id="rId4" Type="http://schemas.openxmlformats.org/officeDocument/2006/relationships/image" Target="../media/image7.png" /><Relationship Id="rId9" Type="http://schemas.openxmlformats.org/officeDocument/2006/relationships/image" Target="../media/image12.png" /><Relationship Id="rId14" Type="http://schemas.openxmlformats.org/officeDocument/2006/relationships/image" Target="../media/image17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 /><Relationship Id="rId13" Type="http://schemas.openxmlformats.org/officeDocument/2006/relationships/image" Target="../media/image27.png" /><Relationship Id="rId18" Type="http://schemas.openxmlformats.org/officeDocument/2006/relationships/image" Target="../media/image32.png" /><Relationship Id="rId3" Type="http://schemas.openxmlformats.org/officeDocument/2006/relationships/image" Target="../media/image1.png" /><Relationship Id="rId21" Type="http://schemas.openxmlformats.org/officeDocument/2006/relationships/image" Target="../media/image35.png" /><Relationship Id="rId7" Type="http://schemas.openxmlformats.org/officeDocument/2006/relationships/image" Target="../media/image21.png" /><Relationship Id="rId12" Type="http://schemas.openxmlformats.org/officeDocument/2006/relationships/image" Target="../media/image26.png" /><Relationship Id="rId17" Type="http://schemas.openxmlformats.org/officeDocument/2006/relationships/image" Target="../media/image31.png" /><Relationship Id="rId25" Type="http://schemas.openxmlformats.org/officeDocument/2006/relationships/image" Target="../media/image39.png" /><Relationship Id="rId2" Type="http://schemas.openxmlformats.org/officeDocument/2006/relationships/notesSlide" Target="../notesSlides/notesSlide3.xml" /><Relationship Id="rId16" Type="http://schemas.openxmlformats.org/officeDocument/2006/relationships/image" Target="../media/image30.png" /><Relationship Id="rId20" Type="http://schemas.openxmlformats.org/officeDocument/2006/relationships/image" Target="../media/image34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0.png" /><Relationship Id="rId11" Type="http://schemas.openxmlformats.org/officeDocument/2006/relationships/image" Target="../media/image25.png" /><Relationship Id="rId24" Type="http://schemas.openxmlformats.org/officeDocument/2006/relationships/image" Target="../media/image38.png" /><Relationship Id="rId5" Type="http://schemas.openxmlformats.org/officeDocument/2006/relationships/image" Target="../media/image19.png" /><Relationship Id="rId15" Type="http://schemas.openxmlformats.org/officeDocument/2006/relationships/image" Target="../media/image29.png" /><Relationship Id="rId23" Type="http://schemas.openxmlformats.org/officeDocument/2006/relationships/image" Target="../media/image37.png" /><Relationship Id="rId10" Type="http://schemas.openxmlformats.org/officeDocument/2006/relationships/image" Target="../media/image24.png" /><Relationship Id="rId19" Type="http://schemas.openxmlformats.org/officeDocument/2006/relationships/image" Target="../media/image33.png" /><Relationship Id="rId4" Type="http://schemas.openxmlformats.org/officeDocument/2006/relationships/image" Target="../media/image7.png" /><Relationship Id="rId9" Type="http://schemas.openxmlformats.org/officeDocument/2006/relationships/image" Target="../media/image23.png" /><Relationship Id="rId14" Type="http://schemas.openxmlformats.org/officeDocument/2006/relationships/image" Target="../media/image28.png" /><Relationship Id="rId22" Type="http://schemas.openxmlformats.org/officeDocument/2006/relationships/image" Target="../media/image36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 /><Relationship Id="rId13" Type="http://schemas.openxmlformats.org/officeDocument/2006/relationships/image" Target="../media/image47.png" /><Relationship Id="rId3" Type="http://schemas.openxmlformats.org/officeDocument/2006/relationships/image" Target="../media/image1.png" /><Relationship Id="rId7" Type="http://schemas.openxmlformats.org/officeDocument/2006/relationships/image" Target="../media/image20.png" /><Relationship Id="rId12" Type="http://schemas.openxmlformats.org/officeDocument/2006/relationships/image" Target="../media/image46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1.png" /><Relationship Id="rId11" Type="http://schemas.openxmlformats.org/officeDocument/2006/relationships/image" Target="../media/image45.png" /><Relationship Id="rId5" Type="http://schemas.openxmlformats.org/officeDocument/2006/relationships/image" Target="../media/image40.png" /><Relationship Id="rId10" Type="http://schemas.openxmlformats.org/officeDocument/2006/relationships/image" Target="../media/image44.png" /><Relationship Id="rId4" Type="http://schemas.openxmlformats.org/officeDocument/2006/relationships/image" Target="../media/image7.png" /><Relationship Id="rId9" Type="http://schemas.openxmlformats.org/officeDocument/2006/relationships/image" Target="../media/image43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 /><Relationship Id="rId13" Type="http://schemas.openxmlformats.org/officeDocument/2006/relationships/image" Target="../media/image56.png" /><Relationship Id="rId18" Type="http://schemas.openxmlformats.org/officeDocument/2006/relationships/image" Target="../media/image60.png" /><Relationship Id="rId3" Type="http://schemas.openxmlformats.org/officeDocument/2006/relationships/image" Target="../media/image1.png" /><Relationship Id="rId7" Type="http://schemas.openxmlformats.org/officeDocument/2006/relationships/image" Target="../media/image50.png" /><Relationship Id="rId12" Type="http://schemas.openxmlformats.org/officeDocument/2006/relationships/image" Target="../media/image55.png" /><Relationship Id="rId17" Type="http://schemas.openxmlformats.org/officeDocument/2006/relationships/image" Target="../media/image59.png" /><Relationship Id="rId2" Type="http://schemas.openxmlformats.org/officeDocument/2006/relationships/notesSlide" Target="../notesSlides/notesSlide5.xml" /><Relationship Id="rId16" Type="http://schemas.openxmlformats.org/officeDocument/2006/relationships/image" Target="../media/image58.png" /><Relationship Id="rId20" Type="http://schemas.openxmlformats.org/officeDocument/2006/relationships/image" Target="../media/image62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9.png" /><Relationship Id="rId11" Type="http://schemas.openxmlformats.org/officeDocument/2006/relationships/image" Target="../media/image54.png" /><Relationship Id="rId5" Type="http://schemas.openxmlformats.org/officeDocument/2006/relationships/image" Target="../media/image48.png" /><Relationship Id="rId15" Type="http://schemas.openxmlformats.org/officeDocument/2006/relationships/image" Target="../media/image57.png" /><Relationship Id="rId10" Type="http://schemas.openxmlformats.org/officeDocument/2006/relationships/image" Target="../media/image53.png" /><Relationship Id="rId19" Type="http://schemas.openxmlformats.org/officeDocument/2006/relationships/image" Target="../media/image61.png" /><Relationship Id="rId4" Type="http://schemas.openxmlformats.org/officeDocument/2006/relationships/image" Target="../media/image7.png" /><Relationship Id="rId9" Type="http://schemas.openxmlformats.org/officeDocument/2006/relationships/image" Target="../media/image52.png" /><Relationship Id="rId14" Type="http://schemas.openxmlformats.org/officeDocument/2006/relationships/image" Target="../media/image23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 /><Relationship Id="rId13" Type="http://schemas.openxmlformats.org/officeDocument/2006/relationships/image" Target="../media/image72.png" /><Relationship Id="rId18" Type="http://schemas.openxmlformats.org/officeDocument/2006/relationships/image" Target="../media/image77.png" /><Relationship Id="rId3" Type="http://schemas.openxmlformats.org/officeDocument/2006/relationships/image" Target="../media/image1.png" /><Relationship Id="rId7" Type="http://schemas.openxmlformats.org/officeDocument/2006/relationships/image" Target="../media/image66.png" /><Relationship Id="rId12" Type="http://schemas.openxmlformats.org/officeDocument/2006/relationships/image" Target="../media/image71.png" /><Relationship Id="rId17" Type="http://schemas.openxmlformats.org/officeDocument/2006/relationships/image" Target="../media/image76.png" /><Relationship Id="rId2" Type="http://schemas.openxmlformats.org/officeDocument/2006/relationships/notesSlide" Target="../notesSlides/notesSlide6.xml" /><Relationship Id="rId16" Type="http://schemas.openxmlformats.org/officeDocument/2006/relationships/image" Target="../media/image75.png" /><Relationship Id="rId20" Type="http://schemas.openxmlformats.org/officeDocument/2006/relationships/image" Target="../media/image79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5.png" /><Relationship Id="rId11" Type="http://schemas.openxmlformats.org/officeDocument/2006/relationships/image" Target="../media/image70.png" /><Relationship Id="rId5" Type="http://schemas.openxmlformats.org/officeDocument/2006/relationships/image" Target="../media/image64.png" /><Relationship Id="rId15" Type="http://schemas.openxmlformats.org/officeDocument/2006/relationships/image" Target="../media/image74.png" /><Relationship Id="rId10" Type="http://schemas.openxmlformats.org/officeDocument/2006/relationships/image" Target="../media/image69.png" /><Relationship Id="rId19" Type="http://schemas.openxmlformats.org/officeDocument/2006/relationships/image" Target="../media/image78.png" /><Relationship Id="rId4" Type="http://schemas.openxmlformats.org/officeDocument/2006/relationships/image" Target="../media/image63.png" /><Relationship Id="rId9" Type="http://schemas.openxmlformats.org/officeDocument/2006/relationships/image" Target="../media/image68.png" /><Relationship Id="rId14" Type="http://schemas.openxmlformats.org/officeDocument/2006/relationships/image" Target="../media/image73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 /><Relationship Id="rId13" Type="http://schemas.openxmlformats.org/officeDocument/2006/relationships/image" Target="../media/image88.png" /><Relationship Id="rId3" Type="http://schemas.openxmlformats.org/officeDocument/2006/relationships/image" Target="../media/image1.png" /><Relationship Id="rId7" Type="http://schemas.openxmlformats.org/officeDocument/2006/relationships/image" Target="../media/image82.png" /><Relationship Id="rId12" Type="http://schemas.openxmlformats.org/officeDocument/2006/relationships/image" Target="../media/image87.png" /><Relationship Id="rId2" Type="http://schemas.openxmlformats.org/officeDocument/2006/relationships/notesSlide" Target="../notesSlides/notesSlide7.xml" /><Relationship Id="rId16" Type="http://schemas.openxmlformats.org/officeDocument/2006/relationships/image" Target="../media/image91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1.png" /><Relationship Id="rId11" Type="http://schemas.openxmlformats.org/officeDocument/2006/relationships/image" Target="../media/image86.png" /><Relationship Id="rId5" Type="http://schemas.openxmlformats.org/officeDocument/2006/relationships/image" Target="../media/image80.png" /><Relationship Id="rId15" Type="http://schemas.openxmlformats.org/officeDocument/2006/relationships/image" Target="../media/image90.png" /><Relationship Id="rId10" Type="http://schemas.openxmlformats.org/officeDocument/2006/relationships/image" Target="../media/image85.png" /><Relationship Id="rId4" Type="http://schemas.openxmlformats.org/officeDocument/2006/relationships/image" Target="../media/image7.png" /><Relationship Id="rId9" Type="http://schemas.openxmlformats.org/officeDocument/2006/relationships/image" Target="../media/image84.png" /><Relationship Id="rId14" Type="http://schemas.openxmlformats.org/officeDocument/2006/relationships/image" Target="../media/image89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 /><Relationship Id="rId13" Type="http://schemas.openxmlformats.org/officeDocument/2006/relationships/image" Target="../media/image101.png" /><Relationship Id="rId3" Type="http://schemas.openxmlformats.org/officeDocument/2006/relationships/image" Target="../media/image92.png" /><Relationship Id="rId7" Type="http://schemas.openxmlformats.org/officeDocument/2006/relationships/image" Target="../media/image95.png" /><Relationship Id="rId12" Type="http://schemas.openxmlformats.org/officeDocument/2006/relationships/image" Target="../media/image100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94.png" /><Relationship Id="rId11" Type="http://schemas.openxmlformats.org/officeDocument/2006/relationships/image" Target="../media/image99.png" /><Relationship Id="rId5" Type="http://schemas.openxmlformats.org/officeDocument/2006/relationships/image" Target="../media/image93.png" /><Relationship Id="rId10" Type="http://schemas.openxmlformats.org/officeDocument/2006/relationships/image" Target="../media/image98.png" /><Relationship Id="rId4" Type="http://schemas.openxmlformats.org/officeDocument/2006/relationships/image" Target="../media/image7.png" /><Relationship Id="rId9" Type="http://schemas.openxmlformats.org/officeDocument/2006/relationships/image" Target="../media/image97.png" /><Relationship Id="rId14" Type="http://schemas.openxmlformats.org/officeDocument/2006/relationships/image" Target="../media/image102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 /><Relationship Id="rId13" Type="http://schemas.openxmlformats.org/officeDocument/2006/relationships/image" Target="../media/image110.png" /><Relationship Id="rId3" Type="http://schemas.openxmlformats.org/officeDocument/2006/relationships/image" Target="../media/image1.png" /><Relationship Id="rId7" Type="http://schemas.openxmlformats.org/officeDocument/2006/relationships/image" Target="../media/image47.png" /><Relationship Id="rId12" Type="http://schemas.openxmlformats.org/officeDocument/2006/relationships/image" Target="../media/image109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04.png" /><Relationship Id="rId11" Type="http://schemas.openxmlformats.org/officeDocument/2006/relationships/image" Target="../media/image108.png" /><Relationship Id="rId5" Type="http://schemas.openxmlformats.org/officeDocument/2006/relationships/image" Target="../media/image103.png" /><Relationship Id="rId15" Type="http://schemas.openxmlformats.org/officeDocument/2006/relationships/image" Target="../media/image112.png" /><Relationship Id="rId10" Type="http://schemas.openxmlformats.org/officeDocument/2006/relationships/image" Target="../media/image107.png" /><Relationship Id="rId4" Type="http://schemas.openxmlformats.org/officeDocument/2006/relationships/image" Target="../media/image7.png" /><Relationship Id="rId9" Type="http://schemas.openxmlformats.org/officeDocument/2006/relationships/image" Target="../media/image106.png" /><Relationship Id="rId14" Type="http://schemas.openxmlformats.org/officeDocument/2006/relationships/image" Target="../media/image11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4" name="Image 2" descr="https://picture-search.skywork.ai/aippt/image/sheet/a36deccca706515a87e66e433cfdffc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71500"/>
            <a:ext cx="6096000" cy="571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686175"/>
            <a:ext cx="50292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0" y="60960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7163" y="6191250"/>
            <a:ext cx="142875" cy="2667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609600" y="1876425"/>
            <a:ext cx="5769173" cy="1428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EV Market:
</a:t>
            </a:r>
            <a:r>
              <a:rPr lang="en-US" sz="4500" b="1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Real Story</a:t>
            </a:r>
            <a:endParaRPr lang="en-US" sz="4500" dirty="0"/>
          </a:p>
        </p:txBody>
      </p:sp>
      <p:sp>
        <p:nvSpPr>
          <p:cNvPr id="10" name="Text 2"/>
          <p:cNvSpPr/>
          <p:nvPr/>
        </p:nvSpPr>
        <p:spPr>
          <a:xfrm>
            <a:off x="609600" y="3952875"/>
            <a:ext cx="50292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Insights from 2015–2025 Sales Data</a:t>
            </a:r>
            <a:endParaRPr lang="en-US" sz="1800" dirty="0"/>
          </a:p>
        </p:txBody>
      </p:sp>
      <p:sp>
        <p:nvSpPr>
          <p:cNvPr id="11" name="Text 3"/>
          <p:cNvSpPr/>
          <p:nvPr/>
        </p:nvSpPr>
        <p:spPr>
          <a:xfrm>
            <a:off x="609600" y="5191125"/>
            <a:ext cx="3390900" cy="3214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IN" sz="2000" dirty="0">
                <a:solidFill>
                  <a:schemeClr val="bg1"/>
                </a:solidFill>
              </a:rPr>
              <a:t>Presented by – Asif khan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18288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33500"/>
            <a:ext cx="5448300" cy="1866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621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388" y="163830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505200"/>
            <a:ext cx="5448300" cy="1866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7338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388" y="3810000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333500"/>
            <a:ext cx="5448300" cy="1866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15621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16383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3505200"/>
            <a:ext cx="5448300" cy="1600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37338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3810000"/>
            <a:ext cx="228600" cy="3048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Data Foundation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1295400" y="1638300"/>
            <a:ext cx="369724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Comprehensive Dataset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685800" y="2171700"/>
            <a:ext cx="49911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grounded in a robust dataset of </a:t>
            </a:r>
            <a:r>
              <a:rPr lang="en-US" sz="1500" b="1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3,022 unique EV models</a:t>
            </a: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providing extensive coverage of the global EV market.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1295400" y="3810000"/>
            <a:ext cx="162288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Span</a:t>
            </a:r>
            <a:endParaRPr lang="en-US" sz="1800" dirty="0"/>
          </a:p>
        </p:txBody>
      </p:sp>
      <p:sp>
        <p:nvSpPr>
          <p:cNvPr id="20" name="Text 4"/>
          <p:cNvSpPr/>
          <p:nvPr/>
        </p:nvSpPr>
        <p:spPr>
          <a:xfrm>
            <a:off x="685800" y="4343400"/>
            <a:ext cx="49911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collected from </a:t>
            </a:r>
            <a:r>
              <a:rPr lang="en-US" sz="15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2015 through 2025</a:t>
            </a: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providing a decade-long perspective on market evolution and trends.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7124700" y="1638300"/>
            <a:ext cx="200971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Scope</a:t>
            </a:r>
            <a:endParaRPr lang="en-US" sz="1800" dirty="0"/>
          </a:p>
        </p:txBody>
      </p:sp>
      <p:sp>
        <p:nvSpPr>
          <p:cNvPr id="22" name="Text 6"/>
          <p:cNvSpPr/>
          <p:nvPr/>
        </p:nvSpPr>
        <p:spPr>
          <a:xfrm>
            <a:off x="6515100" y="2171700"/>
            <a:ext cx="49911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encompasses </a:t>
            </a:r>
            <a:r>
              <a:rPr lang="en-US" sz="1500" b="1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 major EV manufacturers and regions worldwide</a:t>
            </a: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providing a holistic view of the market.</a:t>
            </a:r>
            <a:endParaRPr lang="en-US" sz="1500" dirty="0"/>
          </a:p>
        </p:txBody>
      </p:sp>
      <p:sp>
        <p:nvSpPr>
          <p:cNvPr id="23" name="Text 7"/>
          <p:cNvSpPr/>
          <p:nvPr/>
        </p:nvSpPr>
        <p:spPr>
          <a:xfrm>
            <a:off x="7124700" y="3810000"/>
            <a:ext cx="200382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Goal</a:t>
            </a:r>
            <a:endParaRPr lang="en-US" sz="1800" dirty="0"/>
          </a:p>
        </p:txBody>
      </p:sp>
      <p:sp>
        <p:nvSpPr>
          <p:cNvPr id="24" name="Text 8"/>
          <p:cNvSpPr/>
          <p:nvPr/>
        </p:nvSpPr>
        <p:spPr>
          <a:xfrm>
            <a:off x="6515100" y="4343400"/>
            <a:ext cx="4991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the true </a:t>
            </a:r>
            <a:r>
              <a:rPr lang="en-US" sz="15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"money-makers"</a:t>
            </a: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and pinpoint critical </a:t>
            </a:r>
            <a:r>
              <a:rPr lang="en-US" sz="15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"tech gaps"</a:t>
            </a: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within the EV market.</a:t>
            </a:r>
            <a:endParaRPr lang="en-US" sz="1500" dirty="0"/>
          </a:p>
        </p:txBody>
      </p:sp>
      <p:sp>
        <p:nvSpPr>
          <p:cNvPr id="25" name="Text 9"/>
          <p:cNvSpPr/>
          <p:nvPr/>
        </p:nvSpPr>
        <p:spPr>
          <a:xfrm>
            <a:off x="457200" y="58674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"Our analysis moves beyond anecdotal evidence and marketing claims, focusing instead on the underlying engineering and financial realities that drive the industry."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11718131" y="6419850"/>
            <a:ext cx="29432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2/9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18288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3683" y="1600200"/>
            <a:ext cx="4172843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4357" y="1752600"/>
            <a:ext cx="200025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2398" y="17526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6582" y="1752600"/>
            <a:ext cx="25717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2610" y="17526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9401" y="2047875"/>
            <a:ext cx="609600" cy="19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1876" y="1790700"/>
            <a:ext cx="1037779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529" y="2047875"/>
            <a:ext cx="609600" cy="19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45004" y="1600200"/>
            <a:ext cx="1503313" cy="914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10861" y="1752600"/>
            <a:ext cx="1714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2895600"/>
            <a:ext cx="3606701" cy="2552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12420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813" y="3200400"/>
            <a:ext cx="25717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3733800"/>
            <a:ext cx="2254746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92501" y="2895600"/>
            <a:ext cx="3606850" cy="2552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21101" y="3124200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78263" y="3200400"/>
            <a:ext cx="14287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21101" y="3733800"/>
            <a:ext cx="1515963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27950" y="2895600"/>
            <a:ext cx="3606701" cy="2552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56550" y="3200400"/>
            <a:ext cx="421332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52842" y="3276600"/>
            <a:ext cx="2286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56550" y="3886200"/>
            <a:ext cx="3149501" cy="5334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We Crunched the Numbers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457200" y="10287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 metrics to evaluate technological quality and financial impact beyond raw data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2148483" y="2133600"/>
            <a:ext cx="44612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Price</a:t>
            </a:r>
            <a:endParaRPr lang="en-US" sz="1200" dirty="0"/>
          </a:p>
        </p:txBody>
      </p:sp>
      <p:sp>
        <p:nvSpPr>
          <p:cNvPr id="29" name="Text 3"/>
          <p:cNvSpPr/>
          <p:nvPr/>
        </p:nvSpPr>
        <p:spPr>
          <a:xfrm>
            <a:off x="2748855" y="1943100"/>
            <a:ext cx="1532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3105150" y="2133600"/>
            <a:ext cx="5797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Range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3816846" y="1943100"/>
            <a:ext cx="1532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4173141" y="2133600"/>
            <a:ext cx="6768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Battery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4965799" y="1943100"/>
            <a:ext cx="1532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5322094" y="2133600"/>
            <a:ext cx="4675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Units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7064276" y="1962150"/>
            <a:ext cx="879574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Raw Data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8997404" y="2133600"/>
            <a:ext cx="14382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Derived Metrics</a:t>
            </a:r>
            <a:endParaRPr lang="en-US" sz="1200" dirty="0"/>
          </a:p>
        </p:txBody>
      </p:sp>
      <p:sp>
        <p:nvSpPr>
          <p:cNvPr id="37" name="Text 11"/>
          <p:cNvSpPr/>
          <p:nvPr/>
        </p:nvSpPr>
        <p:spPr>
          <a:xfrm>
            <a:off x="1295400" y="3200400"/>
            <a:ext cx="24383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Efficiency Score</a:t>
            </a:r>
            <a:endParaRPr lang="en-US" sz="1800" dirty="0"/>
          </a:p>
        </p:txBody>
      </p:sp>
      <p:sp>
        <p:nvSpPr>
          <p:cNvPr id="38" name="Text 12"/>
          <p:cNvSpPr/>
          <p:nvPr/>
        </p:nvSpPr>
        <p:spPr>
          <a:xfrm>
            <a:off x="762000" y="3733800"/>
            <a:ext cx="270569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Range (km) / Battery (kWh)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685800" y="4152900"/>
            <a:ext cx="31495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Evaluates technological quality and engineering prowess, rather than focusing on battery size.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5130701" y="3200400"/>
            <a:ext cx="252995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Weight</a:t>
            </a:r>
            <a:endParaRPr lang="en-US" sz="1800" dirty="0"/>
          </a:p>
        </p:txBody>
      </p:sp>
      <p:sp>
        <p:nvSpPr>
          <p:cNvPr id="41" name="Text 15"/>
          <p:cNvSpPr/>
          <p:nvPr/>
        </p:nvSpPr>
        <p:spPr>
          <a:xfrm>
            <a:off x="4597301" y="3733800"/>
            <a:ext cx="181915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Price × Units Sold</a:t>
            </a:r>
            <a:endParaRPr lang="en-US" sz="1200" dirty="0"/>
          </a:p>
        </p:txBody>
      </p:sp>
      <p:sp>
        <p:nvSpPr>
          <p:cNvPr id="42" name="Text 16"/>
          <p:cNvSpPr/>
          <p:nvPr/>
        </p:nvSpPr>
        <p:spPr>
          <a:xfrm>
            <a:off x="4521101" y="4152900"/>
            <a:ext cx="31496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Identifies "cash cows" within the market, distinguishing between high sales volume and high revenue generation.</a:t>
            </a:r>
            <a:endParaRPr lang="en-US" sz="1200" dirty="0"/>
          </a:p>
        </p:txBody>
      </p:sp>
      <p:sp>
        <p:nvSpPr>
          <p:cNvPr id="43" name="Text 17"/>
          <p:cNvSpPr/>
          <p:nvPr/>
        </p:nvSpPr>
        <p:spPr>
          <a:xfrm>
            <a:off x="8930283" y="3124200"/>
            <a:ext cx="2575768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Segmentation</a:t>
            </a:r>
            <a:endParaRPr lang="en-US" sz="1800" dirty="0"/>
          </a:p>
        </p:txBody>
      </p:sp>
      <p:sp>
        <p:nvSpPr>
          <p:cNvPr id="44" name="Text 18"/>
          <p:cNvSpPr/>
          <p:nvPr/>
        </p:nvSpPr>
        <p:spPr>
          <a:xfrm>
            <a:off x="8432750" y="3886200"/>
            <a:ext cx="31495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Logical categorization (e.g., Price &gt; $80k = "Luxury")</a:t>
            </a:r>
            <a:endParaRPr lang="en-US" sz="1200" dirty="0"/>
          </a:p>
        </p:txBody>
      </p:sp>
      <p:sp>
        <p:nvSpPr>
          <p:cNvPr id="45" name="Text 19"/>
          <p:cNvSpPr/>
          <p:nvPr/>
        </p:nvSpPr>
        <p:spPr>
          <a:xfrm>
            <a:off x="8356550" y="4533900"/>
            <a:ext cx="31495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Allows for clearer understanding of market structure and identification of underserved areas or market voids.</a:t>
            </a:r>
            <a:endParaRPr lang="en-US" sz="1200" dirty="0"/>
          </a:p>
        </p:txBody>
      </p:sp>
      <p:sp>
        <p:nvSpPr>
          <p:cNvPr id="46" name="Text 20"/>
          <p:cNvSpPr/>
          <p:nvPr/>
        </p:nvSpPr>
        <p:spPr>
          <a:xfrm>
            <a:off x="11718131" y="6419850"/>
            <a:ext cx="29432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3/9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18288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47800"/>
            <a:ext cx="5524500" cy="1981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6383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288" y="171450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447800"/>
            <a:ext cx="5524500" cy="1981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6383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0813" y="1714500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57600"/>
            <a:ext cx="5524500" cy="1981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38481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9243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657600"/>
            <a:ext cx="5524500" cy="1981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38481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3675" y="3924300"/>
            <a:ext cx="171450" cy="3048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Market's Pulse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457200" y="10287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statistics revealing the current state of the EV market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257300" y="1714500"/>
            <a:ext cx="214473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Price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647700" y="2209800"/>
            <a:ext cx="249888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$90,611</a:t>
            </a:r>
            <a:endParaRPr lang="en-US" sz="3600" dirty="0"/>
          </a:p>
        </p:txBody>
      </p:sp>
      <p:sp>
        <p:nvSpPr>
          <p:cNvPr id="20" name="Text 4"/>
          <p:cNvSpPr/>
          <p:nvPr/>
        </p:nvSpPr>
        <p:spPr>
          <a:xfrm>
            <a:off x="647700" y="2705100"/>
            <a:ext cx="5143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skewed towards premium segments. Affordable EVs remain unaddressed.</a:t>
            </a:r>
            <a:endParaRPr lang="en-US" sz="1350" dirty="0"/>
          </a:p>
        </p:txBody>
      </p:sp>
      <p:sp>
        <p:nvSpPr>
          <p:cNvPr id="21" name="Text 5"/>
          <p:cNvSpPr/>
          <p:nvPr/>
        </p:nvSpPr>
        <p:spPr>
          <a:xfrm>
            <a:off x="7010400" y="1714500"/>
            <a:ext cx="233975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Range</a:t>
            </a:r>
            <a:endParaRPr lang="en-US" sz="1800" dirty="0"/>
          </a:p>
        </p:txBody>
      </p:sp>
      <p:sp>
        <p:nvSpPr>
          <p:cNvPr id="22" name="Text 6"/>
          <p:cNvSpPr/>
          <p:nvPr/>
        </p:nvSpPr>
        <p:spPr>
          <a:xfrm>
            <a:off x="6400800" y="2209800"/>
            <a:ext cx="114532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350</a:t>
            </a:r>
            <a:endParaRPr lang="en-US" sz="3600" dirty="0"/>
          </a:p>
        </p:txBody>
      </p:sp>
      <p:sp>
        <p:nvSpPr>
          <p:cNvPr id="23" name="Text 7"/>
          <p:cNvSpPr/>
          <p:nvPr/>
        </p:nvSpPr>
        <p:spPr>
          <a:xfrm>
            <a:off x="7431435" y="2362200"/>
            <a:ext cx="4261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km</a:t>
            </a:r>
            <a:endParaRPr lang="en-US" sz="1800" dirty="0"/>
          </a:p>
        </p:txBody>
      </p:sp>
      <p:sp>
        <p:nvSpPr>
          <p:cNvPr id="24" name="Text 8"/>
          <p:cNvSpPr/>
          <p:nvPr/>
        </p:nvSpPr>
        <p:spPr>
          <a:xfrm>
            <a:off x="6400800" y="2705100"/>
            <a:ext cx="5143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350 km range emerges as critical benchmark. Vehicles below this risk invisibility to buyers.</a:t>
            </a:r>
            <a:endParaRPr lang="en-US" sz="1350" dirty="0"/>
          </a:p>
        </p:txBody>
      </p:sp>
      <p:sp>
        <p:nvSpPr>
          <p:cNvPr id="25" name="Text 9"/>
          <p:cNvSpPr/>
          <p:nvPr/>
        </p:nvSpPr>
        <p:spPr>
          <a:xfrm>
            <a:off x="1257300" y="3924300"/>
            <a:ext cx="219188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Sales</a:t>
            </a:r>
            <a:endParaRPr lang="en-US" sz="1800" dirty="0"/>
          </a:p>
        </p:txBody>
      </p:sp>
      <p:sp>
        <p:nvSpPr>
          <p:cNvPr id="26" name="Text 10"/>
          <p:cNvSpPr/>
          <p:nvPr/>
        </p:nvSpPr>
        <p:spPr>
          <a:xfrm>
            <a:off x="647700" y="4419600"/>
            <a:ext cx="211722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10,200</a:t>
            </a:r>
            <a:endParaRPr lang="en-US" sz="3600" dirty="0"/>
          </a:p>
        </p:txBody>
      </p:sp>
      <p:sp>
        <p:nvSpPr>
          <p:cNvPr id="27" name="Text 11"/>
          <p:cNvSpPr/>
          <p:nvPr/>
        </p:nvSpPr>
        <p:spPr>
          <a:xfrm>
            <a:off x="2488257" y="4600575"/>
            <a:ext cx="5845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Units</a:t>
            </a:r>
            <a:endParaRPr lang="en-US" sz="1500" dirty="0"/>
          </a:p>
        </p:txBody>
      </p:sp>
      <p:sp>
        <p:nvSpPr>
          <p:cNvPr id="28" name="Text 12"/>
          <p:cNvSpPr/>
          <p:nvPr/>
        </p:nvSpPr>
        <p:spPr>
          <a:xfrm>
            <a:off x="647700" y="4914900"/>
            <a:ext cx="5143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Sales performance inconsistent, with std dev of ~5,700 units. Brand loyalty matters.</a:t>
            </a:r>
            <a:endParaRPr lang="en-US" sz="1350" dirty="0"/>
          </a:p>
        </p:txBody>
      </p:sp>
      <p:sp>
        <p:nvSpPr>
          <p:cNvPr id="29" name="Text 13"/>
          <p:cNvSpPr/>
          <p:nvPr/>
        </p:nvSpPr>
        <p:spPr>
          <a:xfrm>
            <a:off x="7010400" y="3924300"/>
            <a:ext cx="294983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Charging Time Gap</a:t>
            </a:r>
            <a:endParaRPr lang="en-US" sz="1800" dirty="0"/>
          </a:p>
        </p:txBody>
      </p:sp>
      <p:sp>
        <p:nvSpPr>
          <p:cNvPr id="30" name="Text 14"/>
          <p:cNvSpPr/>
          <p:nvPr/>
        </p:nvSpPr>
        <p:spPr>
          <a:xfrm>
            <a:off x="6400800" y="4419600"/>
            <a:ext cx="7634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</a:t>
            </a:r>
            <a:endParaRPr lang="en-US" sz="3600" dirty="0"/>
          </a:p>
        </p:txBody>
      </p:sp>
      <p:sp>
        <p:nvSpPr>
          <p:cNvPr id="31" name="Text 15"/>
          <p:cNvSpPr/>
          <p:nvPr/>
        </p:nvSpPr>
        <p:spPr>
          <a:xfrm>
            <a:off x="7113240" y="4600575"/>
            <a:ext cx="4311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</a:t>
            </a:r>
            <a:endParaRPr lang="en-US" sz="1500" dirty="0"/>
          </a:p>
        </p:txBody>
      </p:sp>
      <p:sp>
        <p:nvSpPr>
          <p:cNvPr id="32" name="Text 16"/>
          <p:cNvSpPr/>
          <p:nvPr/>
        </p:nvSpPr>
        <p:spPr>
          <a:xfrm>
            <a:off x="7548711" y="4638675"/>
            <a:ext cx="1835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</a:t>
            </a:r>
            <a:endParaRPr lang="en-US" sz="1200" dirty="0"/>
          </a:p>
        </p:txBody>
      </p:sp>
      <p:sp>
        <p:nvSpPr>
          <p:cNvPr id="33" name="Text 17"/>
          <p:cNvSpPr/>
          <p:nvPr/>
        </p:nvSpPr>
        <p:spPr>
          <a:xfrm>
            <a:off x="7777907" y="4419600"/>
            <a:ext cx="7634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</a:t>
            </a:r>
            <a:endParaRPr lang="en-US" sz="3600" dirty="0"/>
          </a:p>
        </p:txBody>
      </p:sp>
      <p:sp>
        <p:nvSpPr>
          <p:cNvPr id="34" name="Text 18"/>
          <p:cNvSpPr/>
          <p:nvPr/>
        </p:nvSpPr>
        <p:spPr>
          <a:xfrm>
            <a:off x="8490347" y="4600575"/>
            <a:ext cx="6427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hours</a:t>
            </a:r>
            <a:endParaRPr lang="en-US" sz="1500" dirty="0"/>
          </a:p>
        </p:txBody>
      </p:sp>
      <p:sp>
        <p:nvSpPr>
          <p:cNvPr id="35" name="Text 19"/>
          <p:cNvSpPr/>
          <p:nvPr/>
        </p:nvSpPr>
        <p:spPr>
          <a:xfrm>
            <a:off x="6400800" y="4914900"/>
            <a:ext cx="5143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Vast disparity in charging times points to fragmented ecosystem, creating driver frustration.</a:t>
            </a:r>
            <a:endParaRPr lang="en-US" sz="1350" dirty="0"/>
          </a:p>
        </p:txBody>
      </p:sp>
      <p:sp>
        <p:nvSpPr>
          <p:cNvPr id="36" name="Text 20"/>
          <p:cNvSpPr/>
          <p:nvPr/>
        </p:nvSpPr>
        <p:spPr>
          <a:xfrm>
            <a:off x="11718131" y="6419850"/>
            <a:ext cx="29432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4/9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18288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24000"/>
            <a:ext cx="5524500" cy="18859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7145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288" y="179070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2933700"/>
            <a:ext cx="2857500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524000"/>
            <a:ext cx="5524500" cy="18859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7145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0813" y="1790700"/>
            <a:ext cx="2571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2743200"/>
            <a:ext cx="285750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638550"/>
            <a:ext cx="5524500" cy="18859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382905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390525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4857750"/>
            <a:ext cx="285750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3638550"/>
            <a:ext cx="5524500" cy="18859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82905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3675" y="3905250"/>
            <a:ext cx="1714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86340" y="4495800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4857750"/>
            <a:ext cx="2857500" cy="47625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Dashboard Showcase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457200" y="10287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market statistics at a glance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257300" y="1790700"/>
            <a:ext cx="214473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Price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647700" y="2286000"/>
            <a:ext cx="249888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$90,611</a:t>
            </a:r>
            <a:endParaRPr lang="en-US" sz="3600" dirty="0"/>
          </a:p>
        </p:txBody>
      </p:sp>
      <p:sp>
        <p:nvSpPr>
          <p:cNvPr id="25" name="Text 4"/>
          <p:cNvSpPr/>
          <p:nvPr/>
        </p:nvSpPr>
        <p:spPr>
          <a:xfrm>
            <a:off x="7010400" y="1790700"/>
            <a:ext cx="233975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Range</a:t>
            </a:r>
            <a:endParaRPr lang="en-US" sz="1800" dirty="0"/>
          </a:p>
        </p:txBody>
      </p:sp>
      <p:sp>
        <p:nvSpPr>
          <p:cNvPr id="26" name="Text 5"/>
          <p:cNvSpPr/>
          <p:nvPr/>
        </p:nvSpPr>
        <p:spPr>
          <a:xfrm>
            <a:off x="6400800" y="2286000"/>
            <a:ext cx="114532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350</a:t>
            </a:r>
            <a:endParaRPr lang="en-US" sz="3600" dirty="0"/>
          </a:p>
        </p:txBody>
      </p:sp>
      <p:sp>
        <p:nvSpPr>
          <p:cNvPr id="27" name="Text 6"/>
          <p:cNvSpPr/>
          <p:nvPr/>
        </p:nvSpPr>
        <p:spPr>
          <a:xfrm>
            <a:off x="7431435" y="2438400"/>
            <a:ext cx="4261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km</a:t>
            </a:r>
            <a:endParaRPr lang="en-US" sz="1800" dirty="0"/>
          </a:p>
        </p:txBody>
      </p:sp>
      <p:sp>
        <p:nvSpPr>
          <p:cNvPr id="28" name="Text 7"/>
          <p:cNvSpPr/>
          <p:nvPr/>
        </p:nvSpPr>
        <p:spPr>
          <a:xfrm>
            <a:off x="1257300" y="3905250"/>
            <a:ext cx="219188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Sales</a:t>
            </a:r>
            <a:endParaRPr lang="en-US" sz="1800" dirty="0"/>
          </a:p>
        </p:txBody>
      </p:sp>
      <p:sp>
        <p:nvSpPr>
          <p:cNvPr id="29" name="Text 8"/>
          <p:cNvSpPr/>
          <p:nvPr/>
        </p:nvSpPr>
        <p:spPr>
          <a:xfrm>
            <a:off x="647700" y="4400550"/>
            <a:ext cx="211722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10,200</a:t>
            </a:r>
            <a:endParaRPr lang="en-US" sz="3600" dirty="0"/>
          </a:p>
        </p:txBody>
      </p:sp>
      <p:sp>
        <p:nvSpPr>
          <p:cNvPr id="30" name="Text 9"/>
          <p:cNvSpPr/>
          <p:nvPr/>
        </p:nvSpPr>
        <p:spPr>
          <a:xfrm>
            <a:off x="2488257" y="4581525"/>
            <a:ext cx="5845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Units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7010400" y="3905250"/>
            <a:ext cx="294983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Charging Time Gap</a:t>
            </a:r>
            <a:endParaRPr lang="en-US" sz="1800" dirty="0"/>
          </a:p>
        </p:txBody>
      </p:sp>
      <p:sp>
        <p:nvSpPr>
          <p:cNvPr id="32" name="Text 11"/>
          <p:cNvSpPr/>
          <p:nvPr/>
        </p:nvSpPr>
        <p:spPr>
          <a:xfrm>
            <a:off x="6400800" y="4400550"/>
            <a:ext cx="47720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</a:t>
            </a:r>
            <a:endParaRPr lang="en-US" sz="2250" dirty="0"/>
          </a:p>
        </p:txBody>
      </p:sp>
      <p:sp>
        <p:nvSpPr>
          <p:cNvPr id="33" name="Text 12"/>
          <p:cNvSpPr/>
          <p:nvPr/>
        </p:nvSpPr>
        <p:spPr>
          <a:xfrm>
            <a:off x="6874669" y="4438650"/>
            <a:ext cx="4311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</a:t>
            </a:r>
            <a:endParaRPr lang="en-US" sz="1500" dirty="0"/>
          </a:p>
        </p:txBody>
      </p:sp>
      <p:sp>
        <p:nvSpPr>
          <p:cNvPr id="34" name="Text 13"/>
          <p:cNvSpPr/>
          <p:nvPr/>
        </p:nvSpPr>
        <p:spPr>
          <a:xfrm>
            <a:off x="7595890" y="4400550"/>
            <a:ext cx="47720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</a:t>
            </a:r>
            <a:endParaRPr lang="en-US" sz="2250" dirty="0"/>
          </a:p>
        </p:txBody>
      </p:sp>
      <p:sp>
        <p:nvSpPr>
          <p:cNvPr id="35" name="Text 14"/>
          <p:cNvSpPr/>
          <p:nvPr/>
        </p:nvSpPr>
        <p:spPr>
          <a:xfrm>
            <a:off x="8031659" y="4438650"/>
            <a:ext cx="6427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hours</a:t>
            </a:r>
            <a:endParaRPr lang="en-US" sz="1500" dirty="0"/>
          </a:p>
        </p:txBody>
      </p:sp>
      <p:sp>
        <p:nvSpPr>
          <p:cNvPr id="36" name="Text 15"/>
          <p:cNvSpPr/>
          <p:nvPr/>
        </p:nvSpPr>
        <p:spPr>
          <a:xfrm>
            <a:off x="11718131" y="6419850"/>
            <a:ext cx="29432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5/9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2438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00200"/>
            <a:ext cx="5486400" cy="2895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8288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9050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781300"/>
            <a:ext cx="3238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950" y="2876550"/>
            <a:ext cx="45910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950" y="2876550"/>
            <a:ext cx="367278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390900"/>
            <a:ext cx="762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733800"/>
            <a:ext cx="762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076700"/>
            <a:ext cx="762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600200"/>
            <a:ext cx="5486400" cy="2895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18288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1300" y="19050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2781300"/>
            <a:ext cx="32385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15150" y="2876550"/>
            <a:ext cx="389126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15150" y="2876550"/>
            <a:ext cx="1556445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3390900"/>
            <a:ext cx="762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3733800"/>
            <a:ext cx="762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4076700"/>
            <a:ext cx="762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4800600"/>
            <a:ext cx="11277600" cy="838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5067300"/>
            <a:ext cx="171450" cy="3048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Insights - Efficiency is King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457200" y="10287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reveals efficiency ratios matter more than battery size, challenging the bigger battery equals better car myth.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1295400" y="1905000"/>
            <a:ext cx="144232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Myth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685800" y="2438400"/>
            <a:ext cx="6035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"Bigger battery equals better car"</a:t>
            </a:r>
            <a:endParaRPr lang="en-US" sz="1500" dirty="0"/>
          </a:p>
        </p:txBody>
      </p:sp>
      <p:sp>
        <p:nvSpPr>
          <p:cNvPr id="28" name="Text 4"/>
          <p:cNvSpPr/>
          <p:nvPr/>
        </p:nvSpPr>
        <p:spPr>
          <a:xfrm>
            <a:off x="838200" y="3352800"/>
            <a:ext cx="404193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Conventional wisdom prioritized battery容量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838200" y="3695700"/>
            <a:ext cx="27860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Ignored engineering efficiency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838200" y="4038600"/>
            <a:ext cx="36961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Led to heavier, more expensive vehicles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7086600" y="1905000"/>
            <a:ext cx="174450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Reality</a:t>
            </a:r>
            <a:endParaRPr lang="en-US" sz="1800" dirty="0"/>
          </a:p>
        </p:txBody>
      </p:sp>
      <p:sp>
        <p:nvSpPr>
          <p:cNvPr id="32" name="Text 8"/>
          <p:cNvSpPr/>
          <p:nvPr/>
        </p:nvSpPr>
        <p:spPr>
          <a:xfrm>
            <a:off x="6477000" y="2438400"/>
            <a:ext cx="6035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efficiency scores indicate better engineering</a:t>
            </a:r>
            <a:endParaRPr lang="en-US" sz="1500" dirty="0"/>
          </a:p>
        </p:txBody>
      </p:sp>
      <p:sp>
        <p:nvSpPr>
          <p:cNvPr id="33" name="Text 9"/>
          <p:cNvSpPr/>
          <p:nvPr/>
        </p:nvSpPr>
        <p:spPr>
          <a:xfrm>
            <a:off x="10882610" y="2838450"/>
            <a:ext cx="7483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km/kWh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6629400" y="3352800"/>
            <a:ext cx="32530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Higher range with smaller batteries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6629400" y="3695700"/>
            <a:ext cx="38051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weight and manufacturing costs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6629400" y="4038600"/>
            <a:ext cx="247816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Better overall performance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895350" y="4953000"/>
            <a:ext cx="106870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Takeaway: </a:t>
            </a:r>
            <a:r>
              <a:rPr lang="en-US" sz="1500" b="1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R&amp;D should focus on motor technology and energy management systems, not just battery capacity.</a:t>
            </a:r>
            <a:endParaRPr lang="en-US" sz="1500" dirty="0"/>
          </a:p>
        </p:txBody>
      </p:sp>
      <p:sp>
        <p:nvSpPr>
          <p:cNvPr id="38" name="Text 14"/>
          <p:cNvSpPr/>
          <p:nvPr/>
        </p:nvSpPr>
        <p:spPr>
          <a:xfrm>
            <a:off x="11718131" y="6419850"/>
            <a:ext cx="29432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6/9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18288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7300"/>
            <a:ext cx="6483251" cy="4800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905000"/>
            <a:ext cx="6026051" cy="243706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4914900"/>
            <a:ext cx="1506438" cy="95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9051" y="1257300"/>
            <a:ext cx="4565600" cy="1295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9551" y="14478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4801" y="150495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9051" y="2781300"/>
            <a:ext cx="4565600" cy="152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59551" y="29718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54801" y="30289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69051" y="4533900"/>
            <a:ext cx="4565600" cy="1524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59551" y="472440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54801" y="4781550"/>
            <a:ext cx="190500" cy="2667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Insights - The Market Void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685800" y="1485900"/>
            <a:ext cx="60260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Price Distribution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685800" y="4495800"/>
            <a:ext cx="2037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$0</a:t>
            </a:r>
            <a:endParaRPr lang="en-US" sz="1050" dirty="0"/>
          </a:p>
        </p:txBody>
      </p:sp>
      <p:sp>
        <p:nvSpPr>
          <p:cNvPr id="19" name="Text 3"/>
          <p:cNvSpPr/>
          <p:nvPr/>
        </p:nvSpPr>
        <p:spPr>
          <a:xfrm>
            <a:off x="2438549" y="4495800"/>
            <a:ext cx="39826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$30k</a:t>
            </a:r>
            <a:endParaRPr lang="en-US" sz="1050" dirty="0"/>
          </a:p>
        </p:txBody>
      </p:sp>
      <p:sp>
        <p:nvSpPr>
          <p:cNvPr id="20" name="Text 4"/>
          <p:cNvSpPr/>
          <p:nvPr/>
        </p:nvSpPr>
        <p:spPr>
          <a:xfrm>
            <a:off x="4353371" y="4495800"/>
            <a:ext cx="39826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$40k</a:t>
            </a:r>
            <a:endParaRPr lang="en-US" sz="1050" dirty="0"/>
          </a:p>
        </p:txBody>
      </p:sp>
      <p:sp>
        <p:nvSpPr>
          <p:cNvPr id="21" name="Text 5"/>
          <p:cNvSpPr/>
          <p:nvPr/>
        </p:nvSpPr>
        <p:spPr>
          <a:xfrm>
            <a:off x="6268194" y="4495800"/>
            <a:ext cx="5322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$80k+</a:t>
            </a:r>
            <a:endParaRPr lang="en-US" sz="1050" dirty="0"/>
          </a:p>
        </p:txBody>
      </p:sp>
      <p:sp>
        <p:nvSpPr>
          <p:cNvPr id="22" name="Text 6"/>
          <p:cNvSpPr/>
          <p:nvPr/>
        </p:nvSpPr>
        <p:spPr>
          <a:xfrm>
            <a:off x="2209800" y="4914900"/>
            <a:ext cx="18995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MARKET VOID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7854851" y="1504950"/>
            <a:ext cx="10958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Risk</a:t>
            </a:r>
            <a:endParaRPr lang="en-US" sz="1500" dirty="0"/>
          </a:p>
        </p:txBody>
      </p:sp>
      <p:sp>
        <p:nvSpPr>
          <p:cNvPr id="24" name="Text 8"/>
          <p:cNvSpPr/>
          <p:nvPr/>
        </p:nvSpPr>
        <p:spPr>
          <a:xfrm>
            <a:off x="7359551" y="1905000"/>
            <a:ext cx="4184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Entry-level price is way too high (~$30k+), creating a significant barrier for mass market adoption.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7854851" y="3028950"/>
            <a:ext cx="211615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7359551" y="3429000"/>
            <a:ext cx="4184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Own the mass market with a 350km range EV at $35k, capturing a substantial share of potential buyers currently underserved.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7854851" y="4781550"/>
            <a:ext cx="23395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Market Signal</a:t>
            </a:r>
            <a:endParaRPr lang="en-US" sz="1500" dirty="0"/>
          </a:p>
        </p:txBody>
      </p:sp>
      <p:sp>
        <p:nvSpPr>
          <p:cNvPr id="28" name="Text 12"/>
          <p:cNvSpPr/>
          <p:nvPr/>
        </p:nvSpPr>
        <p:spPr>
          <a:xfrm>
            <a:off x="7359551" y="5181600"/>
            <a:ext cx="4184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Current EV market heavily skewed towards premium segments, with a significant gap in the $30,000–$40,000 range.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457200" y="61341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"The first company to drop a car in this 'Void'—with that standard 350km range—is gonna clean up with the average buyer."</a:t>
            </a:r>
            <a:endParaRPr lang="en-US" sz="1350" dirty="0"/>
          </a:p>
        </p:txBody>
      </p:sp>
      <p:sp>
        <p:nvSpPr>
          <p:cNvPr id="30" name="Text 14"/>
          <p:cNvSpPr/>
          <p:nvPr/>
        </p:nvSpPr>
        <p:spPr>
          <a:xfrm>
            <a:off x="11718131" y="6419850"/>
            <a:ext cx="29432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7/9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247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18288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24000"/>
            <a:ext cx="4373761" cy="1562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7145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177165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314700"/>
            <a:ext cx="4373761" cy="1562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35052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356235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105400"/>
            <a:ext cx="4373761" cy="1562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52959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" y="53530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59561" y="1524000"/>
            <a:ext cx="6675239" cy="5143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11961" y="2095500"/>
            <a:ext cx="6370439" cy="3865959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Where We're Going (2026+)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457200" y="10287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trajectory shows strong recovery and growth forecast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1143000" y="1771650"/>
            <a:ext cx="11476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2023 Dip</a:t>
            </a:r>
            <a:endParaRPr lang="en-US" sz="1500" dirty="0"/>
          </a:p>
        </p:txBody>
      </p:sp>
      <p:sp>
        <p:nvSpPr>
          <p:cNvPr id="18" name="Text 3"/>
          <p:cNvSpPr/>
          <p:nvPr/>
        </p:nvSpPr>
        <p:spPr>
          <a:xfrm>
            <a:off x="647700" y="2209800"/>
            <a:ext cx="399276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Sales corrected to approximately </a:t>
            </a:r>
            <a:r>
              <a:rPr lang="en-US" sz="1200" b="1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2.6 million units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triggering speculation about an "EV cooling" period.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1143000" y="3562350"/>
            <a:ext cx="19054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 Recovery</a:t>
            </a:r>
            <a:endParaRPr lang="en-US" sz="1500" dirty="0"/>
          </a:p>
        </p:txBody>
      </p:sp>
      <p:sp>
        <p:nvSpPr>
          <p:cNvPr id="20" name="Text 5"/>
          <p:cNvSpPr/>
          <p:nvPr/>
        </p:nvSpPr>
        <p:spPr>
          <a:xfrm>
            <a:off x="647700" y="4000500"/>
            <a:ext cx="399276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quickly rebounded to an estimated </a:t>
            </a:r>
            <a:r>
              <a:rPr lang="en-US" sz="12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2.9 million units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demonstrating resilience and adaptability.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1143000" y="5353050"/>
            <a:ext cx="22277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2026+ Prediction</a:t>
            </a:r>
            <a:endParaRPr lang="en-US" sz="1500" dirty="0"/>
          </a:p>
        </p:txBody>
      </p:sp>
      <p:sp>
        <p:nvSpPr>
          <p:cNvPr id="22" name="Text 7"/>
          <p:cNvSpPr/>
          <p:nvPr/>
        </p:nvSpPr>
        <p:spPr>
          <a:xfrm>
            <a:off x="647700" y="5791200"/>
            <a:ext cx="399276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Annual EV sales projected to surpass </a:t>
            </a:r>
            <a:r>
              <a:rPr lang="en-US" sz="1200" b="1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3.0 million units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by 2026, driven by more efficient and market-aligned models.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5211961" y="1676400"/>
            <a:ext cx="63704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 Market Trajectory</a:t>
            </a:r>
            <a:endParaRPr lang="en-US" sz="1500" dirty="0"/>
          </a:p>
        </p:txBody>
      </p:sp>
      <p:sp>
        <p:nvSpPr>
          <p:cNvPr id="24" name="Text 9"/>
          <p:cNvSpPr/>
          <p:nvPr/>
        </p:nvSpPr>
        <p:spPr>
          <a:xfrm>
            <a:off x="457200" y="61341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"The 2023 dip was a market adjustment rather than a fundamental collapse, reflecting the industry's underlying strength and adaptability."</a:t>
            </a:r>
            <a:endParaRPr lang="en-US" sz="1350" dirty="0"/>
          </a:p>
        </p:txBody>
      </p:sp>
      <p:sp>
        <p:nvSpPr>
          <p:cNvPr id="25" name="Text 10"/>
          <p:cNvSpPr/>
          <p:nvPr/>
        </p:nvSpPr>
        <p:spPr>
          <a:xfrm>
            <a:off x="11718131" y="6686550"/>
            <a:ext cx="29432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8/9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18288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00200"/>
            <a:ext cx="3606701" cy="2400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8288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1905000"/>
            <a:ext cx="1714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501" y="1600200"/>
            <a:ext cx="3606850" cy="2400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1101" y="18288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950" y="1600200"/>
            <a:ext cx="3606701" cy="2400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6550" y="18288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0850" y="19050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381500"/>
            <a:ext cx="11277600" cy="914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6101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8675" y="4686300"/>
            <a:ext cx="171450" cy="3048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Wrapping It Up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457200" y="10287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recommendations for future success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1295400" y="1905000"/>
            <a:ext cx="273194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Immediate Action</a:t>
            </a:r>
            <a:endParaRPr lang="en-US" sz="1800" dirty="0"/>
          </a:p>
        </p:txBody>
      </p:sp>
      <p:sp>
        <p:nvSpPr>
          <p:cNvPr id="18" name="Text 3"/>
          <p:cNvSpPr/>
          <p:nvPr/>
        </p:nvSpPr>
        <p:spPr>
          <a:xfrm>
            <a:off x="685800" y="2438400"/>
            <a:ext cx="3149501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Standardize charging infrastructure to address the 30-minute to 12-hour charging time gap. Users can't deal with a 12-hour swing in fueling time.</a:t>
            </a:r>
            <a:endParaRPr lang="en-US" sz="1350" dirty="0"/>
          </a:p>
        </p:txBody>
      </p:sp>
      <p:sp>
        <p:nvSpPr>
          <p:cNvPr id="19" name="Text 4"/>
          <p:cNvSpPr/>
          <p:nvPr/>
        </p:nvSpPr>
        <p:spPr>
          <a:xfrm>
            <a:off x="5130701" y="1905000"/>
            <a:ext cx="1750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Next Phase</a:t>
            </a:r>
            <a:endParaRPr lang="en-US" sz="1800" dirty="0"/>
          </a:p>
        </p:txBody>
      </p:sp>
      <p:sp>
        <p:nvSpPr>
          <p:cNvPr id="20" name="Text 5"/>
          <p:cNvSpPr/>
          <p:nvPr/>
        </p:nvSpPr>
        <p:spPr>
          <a:xfrm>
            <a:off x="4521101" y="2438400"/>
            <a:ext cx="314965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 warranty claims data to identify common failure points and improve vehicle reliability. We know what sells, but we need to know what breaks.</a:t>
            </a:r>
            <a:endParaRPr lang="en-US" sz="1350" dirty="0"/>
          </a:p>
        </p:txBody>
      </p:sp>
      <p:sp>
        <p:nvSpPr>
          <p:cNvPr id="21" name="Text 6"/>
          <p:cNvSpPr/>
          <p:nvPr/>
        </p:nvSpPr>
        <p:spPr>
          <a:xfrm>
            <a:off x="8966150" y="1905000"/>
            <a:ext cx="292947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Direction</a:t>
            </a:r>
            <a:endParaRPr lang="en-US" sz="1800" dirty="0"/>
          </a:p>
        </p:txBody>
      </p:sp>
      <p:sp>
        <p:nvSpPr>
          <p:cNvPr id="22" name="Text 7"/>
          <p:cNvSpPr/>
          <p:nvPr/>
        </p:nvSpPr>
        <p:spPr>
          <a:xfrm>
            <a:off x="8356550" y="2438400"/>
            <a:ext cx="3149501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 the mass market "void" with an affordable EV offering 350km range at around $35k. The first company to own this segment will capture substantial market share.</a:t>
            </a:r>
            <a:endParaRPr lang="en-US" sz="1350" dirty="0"/>
          </a:p>
        </p:txBody>
      </p:sp>
      <p:sp>
        <p:nvSpPr>
          <p:cNvPr id="23" name="Text 8"/>
          <p:cNvSpPr/>
          <p:nvPr/>
        </p:nvSpPr>
        <p:spPr>
          <a:xfrm>
            <a:off x="1295400" y="4686300"/>
            <a:ext cx="838604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"The next winner will be defined by </a:t>
            </a:r>
            <a:r>
              <a:rPr lang="en-US" sz="1800" b="1" i="1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Efficiency</a:t>
            </a:r>
            <a:r>
              <a:rPr lang="en-US" sz="180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not </a:t>
            </a:r>
            <a:r>
              <a:rPr lang="en-US" sz="1800" b="1" i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Excess</a:t>
            </a:r>
            <a:r>
              <a:rPr lang="en-US" sz="180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."</a:t>
            </a:r>
            <a:endParaRPr lang="en-US" sz="1800" dirty="0"/>
          </a:p>
        </p:txBody>
      </p:sp>
      <p:sp>
        <p:nvSpPr>
          <p:cNvPr id="24" name="Text 9"/>
          <p:cNvSpPr/>
          <p:nvPr/>
        </p:nvSpPr>
        <p:spPr>
          <a:xfrm>
            <a:off x="457200" y="61341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Thank you for your attention</a:t>
            </a:r>
            <a:endParaRPr lang="en-US" sz="1500" dirty="0"/>
          </a:p>
        </p:txBody>
      </p:sp>
      <p:sp>
        <p:nvSpPr>
          <p:cNvPr id="25" name="Text 10"/>
          <p:cNvSpPr/>
          <p:nvPr/>
        </p:nvSpPr>
        <p:spPr>
          <a:xfrm>
            <a:off x="11718131" y="6419850"/>
            <a:ext cx="29432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9/9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Asif khan</cp:lastModifiedBy>
  <cp:revision>3</cp:revision>
  <dcterms:created xsi:type="dcterms:W3CDTF">2025-12-07T14:38:55Z</dcterms:created>
  <dcterms:modified xsi:type="dcterms:W3CDTF">2025-12-07T16:48:59Z</dcterms:modified>
</cp:coreProperties>
</file>